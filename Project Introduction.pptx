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1"/>
  </p:sldMasterIdLst>
  <p:notesMasterIdLst>
    <p:notesMasterId r:id="rId14"/>
  </p:notesMasterIdLst>
  <p:handoutMasterIdLst>
    <p:handoutMasterId r:id="rId15"/>
  </p:handoutMasterIdLst>
  <p:sldIdLst>
    <p:sldId id="420" r:id="rId2"/>
    <p:sldId id="422" r:id="rId3"/>
    <p:sldId id="421" r:id="rId4"/>
    <p:sldId id="423" r:id="rId5"/>
    <p:sldId id="424" r:id="rId6"/>
    <p:sldId id="433" r:id="rId7"/>
    <p:sldId id="426" r:id="rId8"/>
    <p:sldId id="434" r:id="rId9"/>
    <p:sldId id="432" r:id="rId10"/>
    <p:sldId id="435" r:id="rId11"/>
    <p:sldId id="430" r:id="rId12"/>
    <p:sldId id="429" r:id="rId13"/>
  </p:sldIdLst>
  <p:sldSz cx="12192000" cy="6858000"/>
  <p:notesSz cx="6669088" cy="9928225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sz="2000"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5B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76" autoAdjust="0"/>
    <p:restoredTop sz="96105" autoAdjust="0"/>
  </p:normalViewPr>
  <p:slideViewPr>
    <p:cSldViewPr snapToObjects="1">
      <p:cViewPr varScale="1">
        <p:scale>
          <a:sx n="82" d="100"/>
          <a:sy n="82" d="100"/>
        </p:scale>
        <p:origin x="514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Objects="1">
      <p:cViewPr varScale="1">
        <p:scale>
          <a:sx n="66" d="100"/>
          <a:sy n="66" d="100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493713" y="184150"/>
            <a:ext cx="3286125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3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75113" y="184150"/>
            <a:ext cx="2074862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431338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1434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779838" y="9431338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7145CA51-EE16-4A92-9BD2-865D42BBE813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779838" y="0"/>
            <a:ext cx="2889250" cy="496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052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25400" y="744538"/>
            <a:ext cx="6618288" cy="37242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1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889000" y="4716463"/>
            <a:ext cx="4891088" cy="4467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noProof="0" dirty="0"/>
              <a:t>Mastertextformat bearbeiten</a:t>
            </a:r>
          </a:p>
          <a:p>
            <a:pPr lvl="1"/>
            <a:r>
              <a:rPr lang="de-DE" noProof="0" dirty="0"/>
              <a:t>Zweite Ebene</a:t>
            </a:r>
          </a:p>
          <a:p>
            <a:pPr lvl="2"/>
            <a:r>
              <a:rPr lang="de-DE" noProof="0" dirty="0"/>
              <a:t>Dritte Ebene</a:t>
            </a:r>
          </a:p>
          <a:p>
            <a:pPr lvl="3"/>
            <a:r>
              <a:rPr lang="de-DE" noProof="0" dirty="0"/>
              <a:t>Vierte Ebene</a:t>
            </a:r>
          </a:p>
          <a:p>
            <a:pPr lvl="4"/>
            <a:r>
              <a:rPr lang="de-DE" noProof="0" dirty="0"/>
              <a:t>Fünfte Ebene</a:t>
            </a:r>
          </a:p>
        </p:txBody>
      </p:sp>
      <p:sp>
        <p:nvSpPr>
          <p:cNvPr id="41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431338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 smtClean="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1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779838" y="9431338"/>
            <a:ext cx="2889250" cy="496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F7186E76-B607-4F73-9B3D-D6D0591399AC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E1562F-4BBB-42B5-8C26-FD11D9285140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706484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7DF0DA4-2560-4732-84FD-93A4650CC0B2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073722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677333" y="1828800"/>
            <a:ext cx="5317067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197601" y="1828800"/>
            <a:ext cx="5317067" cy="4343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E1002D5-2201-4E9B-9376-EDC99803C2B5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6711207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F93CE3E-8F46-4B3F-B799-AF7F5BE2FCAA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8320088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89D389-47CF-430B-951D-3C17BA0ECF67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40857973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6BCA83-3C0B-4265-A886-EE1959219929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2869052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E6790D-43C8-47BE-87C2-A08989C2443F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955590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Bildplatzhalt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lIns="91440" rIns="91440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de-DE" noProof="0"/>
              <a:t>Bild durch Klicken auf Symbol hinzufügen</a:t>
            </a:r>
            <a:endParaRPr lang="en-US" noProof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de-DE"/>
              <a:t>Textmasterformate durch Klicken bearbeiten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E2FB17-5F13-40C6-8704-050ADB435385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6686747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A62C6D-BA08-4F6D-951E-2CD089F45397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727009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805335" y="914400"/>
            <a:ext cx="2709333" cy="5257800"/>
          </a:xfrm>
        </p:spPr>
        <p:txBody>
          <a:bodyPr vert="eaVert"/>
          <a:lstStyle/>
          <a:p>
            <a:r>
              <a:rPr lang="de-DE"/>
              <a:t>Titelmasterformat durch Klicken bearbeiten</a:t>
            </a:r>
            <a:endParaRPr lang="en-US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677333" y="914400"/>
            <a:ext cx="7924800" cy="5257800"/>
          </a:xfrm>
        </p:spPr>
        <p:txBody>
          <a:bodyPr vert="eaVert"/>
          <a:lstStyle/>
          <a:p>
            <a:pPr lvl="0"/>
            <a:r>
              <a:rPr lang="de-DE"/>
              <a:t>Textmasterformate durch Klicken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A81AC4-FA82-46C6-BD37-BCE0B782FF47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33070454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emf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527050" y="215900"/>
            <a:ext cx="10044113" cy="520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Mastertitelformat bearbeiten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719138" y="971550"/>
            <a:ext cx="11299825" cy="5222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en-US"/>
              <a:t>Mastertextformat bearbeiten</a:t>
            </a:r>
          </a:p>
          <a:p>
            <a:pPr lvl="1"/>
            <a:r>
              <a:rPr lang="de-DE" altLang="en-US"/>
              <a:t>Zweite Ebene</a:t>
            </a:r>
          </a:p>
          <a:p>
            <a:pPr lvl="2"/>
            <a:r>
              <a:rPr lang="de-DE" altLang="en-US"/>
              <a:t>Dritte Ebene</a:t>
            </a:r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164638" y="6400800"/>
            <a:ext cx="2540000" cy="30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/>
            </a:lvl1pPr>
          </a:lstStyle>
          <a:p>
            <a:pPr>
              <a:defRPr/>
            </a:pPr>
            <a:fld id="{0719B884-AC83-462F-BD34-BF8A202615E6}" type="slidenum">
              <a:rPr lang="de-DE" altLang="de-DE"/>
              <a:pPr>
                <a:defRPr/>
              </a:pPr>
              <a:t>‹#›</a:t>
            </a:fld>
            <a:endParaRPr lang="de-DE" altLang="de-DE"/>
          </a:p>
        </p:txBody>
      </p:sp>
      <p:sp>
        <p:nvSpPr>
          <p:cNvPr id="1029" name="Line 20"/>
          <p:cNvSpPr>
            <a:spLocks noChangeShapeType="1"/>
          </p:cNvSpPr>
          <p:nvPr/>
        </p:nvSpPr>
        <p:spPr bwMode="auto">
          <a:xfrm>
            <a:off x="0" y="685800"/>
            <a:ext cx="121920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Line 22"/>
          <p:cNvSpPr>
            <a:spLocks noChangeShapeType="1"/>
          </p:cNvSpPr>
          <p:nvPr/>
        </p:nvSpPr>
        <p:spPr bwMode="auto">
          <a:xfrm>
            <a:off x="0" y="685800"/>
            <a:ext cx="12192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1" name="Line 23"/>
          <p:cNvSpPr>
            <a:spLocks noChangeShapeType="1"/>
          </p:cNvSpPr>
          <p:nvPr/>
        </p:nvSpPr>
        <p:spPr bwMode="auto">
          <a:xfrm>
            <a:off x="0" y="6324600"/>
            <a:ext cx="12192000" cy="0"/>
          </a:xfrm>
          <a:prstGeom prst="line">
            <a:avLst/>
          </a:prstGeom>
          <a:noFill/>
          <a:ln w="9525">
            <a:solidFill>
              <a:schemeClr val="bg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34" name="Text Box 14"/>
          <p:cNvSpPr txBox="1">
            <a:spLocks noChangeArrowheads="1"/>
          </p:cNvSpPr>
          <p:nvPr userDrawn="1"/>
        </p:nvSpPr>
        <p:spPr bwMode="auto">
          <a:xfrm>
            <a:off x="719138" y="6400800"/>
            <a:ext cx="3802062" cy="215900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charset="0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charset="0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charset="0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charset="0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000">
                <a:solidFill>
                  <a:schemeClr val="tx1"/>
                </a:solidFill>
                <a:latin typeface="Arial" charset="0"/>
              </a:defRPr>
            </a:lvl9pPr>
          </a:lstStyle>
          <a:p>
            <a:pPr>
              <a:spcBef>
                <a:spcPct val="50000"/>
              </a:spcBef>
              <a:defRPr/>
            </a:pPr>
            <a:r>
              <a:rPr lang="en-US" altLang="en-US" sz="800" dirty="0">
                <a:solidFill>
                  <a:srgbClr val="0065BD"/>
                </a:solidFill>
              </a:rPr>
              <a:t>Chair of Data Science in Earth Observation (Prof. Zhu)</a:t>
            </a:r>
            <a:endParaRPr lang="de-DE" altLang="en-US" sz="800" dirty="0">
              <a:solidFill>
                <a:srgbClr val="0065BD"/>
              </a:solidFill>
            </a:endParaRPr>
          </a:p>
        </p:txBody>
      </p:sp>
      <p:pic>
        <p:nvPicPr>
          <p:cNvPr id="1033" name="Picture 2" descr="C:\Users\Flopc\Desktop\ppt\TUMLogo_oZ_Vollfl_blau_RGB.emf"/>
          <p:cNvPicPr>
            <a:picLocks noChangeAspect="1" noChangeArrowheads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496675" y="284163"/>
            <a:ext cx="611188" cy="322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4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400" b="1">
          <a:solidFill>
            <a:schemeClr val="tx1"/>
          </a:solidFill>
          <a:latin typeface="Arial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panose="020B0604020202020204" pitchFamily="34" charset="0"/>
        <a:buChar char="▫"/>
        <a:defRPr sz="28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-"/>
        <a:defRPr sz="1600">
          <a:solidFill>
            <a:schemeClr val="tx1"/>
          </a:solidFill>
          <a:latin typeface="+mn-lt"/>
        </a:defRPr>
      </a:lvl3pPr>
      <a:lvl4pPr marL="1562100" indent="-228600" algn="l" rtl="0" eaLnBrk="0" fontAlgn="base" hangingPunct="0">
        <a:spcBef>
          <a:spcPct val="20000"/>
        </a:spcBef>
        <a:spcAft>
          <a:spcPct val="0"/>
        </a:spcAft>
        <a:buChar char="–"/>
        <a:defRPr sz="1400">
          <a:solidFill>
            <a:schemeClr val="tx1"/>
          </a:solidFill>
          <a:latin typeface="+mn-lt"/>
        </a:defRPr>
      </a:lvl4pPr>
      <a:lvl5pPr marL="1981200" indent="-228600" algn="l" rtl="0" eaLnBrk="0" fontAlgn="base" hangingPunct="0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5pPr>
      <a:lvl6pPr marL="24384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6pPr>
      <a:lvl7pPr marL="28956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7pPr>
      <a:lvl8pPr marL="33528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8pPr>
      <a:lvl9pPr marL="3810000" indent="-228600" algn="l" rtl="0" eaLnBrk="1" fontAlgn="base" hangingPunct="1">
        <a:spcBef>
          <a:spcPct val="20000"/>
        </a:spcBef>
        <a:spcAft>
          <a:spcPct val="0"/>
        </a:spcAft>
        <a:buChar char="»"/>
        <a:defRPr sz="14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code.earthengine.google.com/8def80c3a1576bcf1e44f8f0cd19ba9b" TargetMode="Externa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mailto:ivica.obadic@tum.de" TargetMode="External"/><Relationship Id="rId2" Type="http://schemas.openxmlformats.org/officeDocument/2006/relationships/hyperlink" Target="https://gitlab.lrz.de/groups/rs-seminar/-/wikis/home" TargetMode="External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hyperlink" Target="mailto:yang.mu@tum.de" TargetMode="Externa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6939F0-545F-C127-4F97-4A09041914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Project: </a:t>
            </a:r>
            <a:r>
              <a:rPr lang="de-DE" dirty="0" err="1"/>
              <a:t>Tree</a:t>
            </a:r>
            <a:r>
              <a:rPr lang="de-DE" dirty="0"/>
              <a:t> </a:t>
            </a:r>
            <a:r>
              <a:rPr lang="de-DE" dirty="0" err="1"/>
              <a:t>Species</a:t>
            </a:r>
            <a:r>
              <a:rPr lang="de-DE" dirty="0"/>
              <a:t> Classification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784F1A5-3C69-0371-D70B-9ABD27D16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10697" y="1203978"/>
            <a:ext cx="5713510" cy="3672408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E9D3156-606F-C7BD-4533-0B68C86E8EEE}"/>
              </a:ext>
            </a:extLst>
          </p:cNvPr>
          <p:cNvSpPr txBox="1"/>
          <p:nvPr/>
        </p:nvSpPr>
        <p:spPr>
          <a:xfrm>
            <a:off x="138935" y="1090734"/>
            <a:ext cx="6241654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2000" b="1" i="0" u="none" strike="noStrike" baseline="0" dirty="0">
                <a:latin typeface="URWPalladioL-Roma"/>
              </a:rPr>
              <a:t>Why?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b="0" i="0" u="none" strike="noStrike" baseline="0" dirty="0">
                <a:latin typeface="URWPalladioL-Roma"/>
              </a:rPr>
              <a:t>Knowledge of tree species distribution provides benefits for forest management practices and decision making for site-adapted tree species selection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b="0" i="0" u="none" strike="noStrike" baseline="0" dirty="0">
                <a:latin typeface="URWPalladioL-Roma"/>
              </a:rPr>
              <a:t>An accurate assignment of tree species in relation to their location allows conclusions about potential resilience or vulnerability to biotic and abiotic factors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b="0" i="0" u="none" strike="noStrike" baseline="0" dirty="0">
                <a:latin typeface="URWPalladioL-Roma"/>
              </a:rPr>
              <a:t>Identifying areas at risk helps the long-term strategy of forest conversion towards a natural, diverse, and </a:t>
            </a:r>
            <a:r>
              <a:rPr lang="en-US" b="0" i="0" u="none" strike="noStrike" baseline="0">
                <a:latin typeface="URWPalladioL-Roma"/>
              </a:rPr>
              <a:t>climate-resilient forest</a:t>
            </a:r>
            <a:endParaRPr lang="en-US" sz="2000" b="0" i="0" u="none" strike="noStrike" baseline="0" dirty="0">
              <a:latin typeface="URWPalladioL-Roma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697226F-41ED-FF61-2789-FD54B125E953}"/>
              </a:ext>
            </a:extLst>
          </p:cNvPr>
          <p:cNvSpPr txBox="1"/>
          <p:nvPr/>
        </p:nvSpPr>
        <p:spPr>
          <a:xfrm>
            <a:off x="209304" y="5030464"/>
            <a:ext cx="610091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dirty="0">
                <a:latin typeface="URWPalladioL-Roma"/>
              </a:rPr>
              <a:t>How?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dirty="0">
                <a:latin typeface="URWPalladioL-Roma"/>
              </a:rPr>
              <a:t>Optical remote sensing data + Machine learning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</a:endParaRPr>
          </a:p>
        </p:txBody>
      </p:sp>
    </p:spTree>
    <p:extLst>
      <p:ext uri="{BB962C8B-B14F-4D97-AF65-F5344CB8AC3E}">
        <p14:creationId xmlns:p14="http://schemas.microsoft.com/office/powerpoint/2010/main" val="14014697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3FC26A-A8B5-9B1C-E045-BAA306C56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Details (1)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C0F2876-8549-7031-96F2-E79F89BF92D5}"/>
              </a:ext>
            </a:extLst>
          </p:cNvPr>
          <p:cNvSpPr txBox="1"/>
          <p:nvPr/>
        </p:nvSpPr>
        <p:spPr>
          <a:xfrm>
            <a:off x="138934" y="1090734"/>
            <a:ext cx="11429673" cy="53245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URWPalladioL-Roma"/>
              </a:rPr>
              <a:t>Project tasks: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URWPalladioL-Roma"/>
              </a:rPr>
              <a:t>Use</a:t>
            </a:r>
            <a:r>
              <a:rPr lang="en-US" i="0" u="none" strike="noStrike" baseline="0" dirty="0">
                <a:latin typeface="URWPalladioL-Roma"/>
              </a:rPr>
              <a:t> Sentinel-2 multi-spectral imagery to derive the dominant tree species for forests in Germany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URWPalladioL-Roma"/>
              </a:rPr>
              <a:t>D</a:t>
            </a:r>
            <a:r>
              <a:rPr lang="en-US" i="0" u="none" strike="noStrike" baseline="0" dirty="0">
                <a:latin typeface="URWPalladioL-Roma"/>
              </a:rPr>
              <a:t>ominant tree species shall be classified by a machine-learning approach trained through the provided reference data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2000" i="0" u="none" strike="noStrike" baseline="0" dirty="0">
              <a:latin typeface="URWPalladioL-Rom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sz="2000" b="1" i="0" u="none" strike="noStrike" baseline="0" dirty="0">
                <a:latin typeface="URWPalladioL-Roma"/>
              </a:rPr>
              <a:t>Group project </a:t>
            </a:r>
            <a:r>
              <a:rPr lang="en-US" sz="2000" i="0" u="none" strike="noStrike" baseline="0" dirty="0">
                <a:latin typeface="URWPalladioL-Roma"/>
              </a:rPr>
              <a:t>(</a:t>
            </a:r>
            <a:r>
              <a:rPr lang="en-US" dirty="0">
                <a:latin typeface="URWPalladioL-Roma"/>
              </a:rPr>
              <a:t>G</a:t>
            </a:r>
            <a:r>
              <a:rPr lang="en-US" sz="2000" i="0" u="none" strike="noStrike" baseline="0" dirty="0">
                <a:latin typeface="URWPalladioL-Roma"/>
              </a:rPr>
              <a:t>roups with 4-5 persons each)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URWPalladioL-Roma"/>
              </a:rPr>
              <a:t>A </a:t>
            </a:r>
            <a:r>
              <a:rPr lang="en-US" b="1" dirty="0">
                <a:solidFill>
                  <a:srgbClr val="FF0000"/>
                </a:solidFill>
                <a:latin typeface="URWPalladioL-Roma"/>
              </a:rPr>
              <a:t>competition!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i="0" u="none" strike="noStrike" baseline="0" dirty="0">
                <a:latin typeface="URWPalladioL-Roma"/>
              </a:rPr>
              <a:t>We shall provide the test data in the last week to evaluate which group’s trained model generalize well on </a:t>
            </a:r>
            <a:r>
              <a:rPr lang="en-US" b="1" i="1" u="sng" strike="noStrike" baseline="0" dirty="0">
                <a:latin typeface="URWPalladioL-Roma"/>
              </a:rPr>
              <a:t>unseen test </a:t>
            </a:r>
            <a:r>
              <a:rPr lang="en-US" i="0" u="none" strike="noStrike" baseline="0" dirty="0">
                <a:latin typeface="URWPalladioL-Roma"/>
              </a:rPr>
              <a:t>data</a:t>
            </a:r>
          </a:p>
          <a:p>
            <a:pPr algn="l"/>
            <a:endParaRPr lang="en-US" sz="2000" i="0" u="none" strike="noStrike" baseline="0" dirty="0">
              <a:latin typeface="URWPalladioL-Rom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URWPalladioL-Roma"/>
              </a:rPr>
              <a:t>Project deliverable: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i="0" u="none" strike="noStrike" baseline="0" dirty="0">
                <a:latin typeface="URWPalladioL-Roma"/>
              </a:rPr>
              <a:t>Project </a:t>
            </a:r>
            <a:r>
              <a:rPr lang="en-US" i="0" u="none" strike="noStrike" baseline="0">
                <a:latin typeface="URWPalladioL-Roma"/>
              </a:rPr>
              <a:t>report (</a:t>
            </a:r>
            <a:r>
              <a:rPr lang="en-US">
                <a:latin typeface="URWPalladioL-Roma"/>
              </a:rPr>
              <a:t>up to </a:t>
            </a:r>
            <a:r>
              <a:rPr lang="en-US" i="0" u="none" strike="noStrike" baseline="0">
                <a:latin typeface="URWPalladioL-Roma"/>
              </a:rPr>
              <a:t>9 </a:t>
            </a:r>
            <a:r>
              <a:rPr lang="en-US" i="0" u="none" strike="noStrike" baseline="0" dirty="0">
                <a:latin typeface="URWPalladioL-Roma"/>
              </a:rPr>
              <a:t>pages) explaining the steps used to create the dataset, data augmentation, model training strategy, and hyperparameter tuning details (report to be shared </a:t>
            </a:r>
            <a:r>
              <a:rPr lang="en-US" i="0" u="none" strike="noStrike" baseline="0">
                <a:latin typeface="URWPalladioL-Roma"/>
              </a:rPr>
              <a:t>by </a:t>
            </a:r>
            <a:r>
              <a:rPr lang="en-US" b="1" i="0" u="sng" strike="noStrike" baseline="0">
                <a:latin typeface="URWPalladioL-Roma"/>
              </a:rPr>
              <a:t>15</a:t>
            </a:r>
            <a:r>
              <a:rPr lang="en-US" b="1" i="0" u="sng" strike="noStrike" baseline="30000">
                <a:latin typeface="URWPalladioL-Roma"/>
              </a:rPr>
              <a:t>th</a:t>
            </a:r>
            <a:r>
              <a:rPr lang="en-US" b="1" i="0" u="sng" strike="noStrike" baseline="0">
                <a:latin typeface="URWPalladioL-Roma"/>
              </a:rPr>
              <a:t> </a:t>
            </a:r>
            <a:r>
              <a:rPr lang="en-US" altLang="zh-CN" b="1" u="sng">
                <a:latin typeface="URWPalladioL-Roma"/>
              </a:rPr>
              <a:t>July</a:t>
            </a:r>
            <a:r>
              <a:rPr lang="en-US" b="1" u="sng">
                <a:latin typeface="URWPalladioL-Roma"/>
              </a:rPr>
              <a:t> </a:t>
            </a:r>
            <a:r>
              <a:rPr lang="en-US" b="1" i="0" u="sng" strike="noStrike" baseline="0">
                <a:latin typeface="URWPalladioL-Roma"/>
              </a:rPr>
              <a:t>202</a:t>
            </a:r>
            <a:r>
              <a:rPr lang="en-US" b="1" u="sng">
                <a:latin typeface="URWPalladioL-Roma"/>
              </a:rPr>
              <a:t>6</a:t>
            </a:r>
            <a:r>
              <a:rPr lang="en-US" b="1" i="0" u="sng" strike="noStrike" baseline="0">
                <a:latin typeface="URWPalladioL-Roma"/>
              </a:rPr>
              <a:t>, </a:t>
            </a:r>
            <a:r>
              <a:rPr lang="en-US" b="1" i="0" u="sng" strike="noStrike" baseline="0" dirty="0">
                <a:latin typeface="URWPalladioL-Roma"/>
              </a:rPr>
              <a:t>23:55 hours</a:t>
            </a:r>
            <a:r>
              <a:rPr lang="en-US" i="0" u="none" strike="noStrike" baseline="0" dirty="0">
                <a:latin typeface="URWPalladioL-Roma"/>
              </a:rPr>
              <a:t>).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URWPalladioL-Roma"/>
              </a:rPr>
              <a:t>Project presentations </a:t>
            </a:r>
            <a:r>
              <a:rPr lang="en-US">
                <a:latin typeface="URWPalladioL-Roma"/>
              </a:rPr>
              <a:t>on </a:t>
            </a:r>
            <a:r>
              <a:rPr lang="en-US" b="1" u="sng">
                <a:latin typeface="URWPalladioL-Roma"/>
              </a:rPr>
              <a:t>17</a:t>
            </a:r>
            <a:r>
              <a:rPr lang="en-US" b="1" u="sng" baseline="30000">
                <a:latin typeface="URWPalladioL-Roma"/>
              </a:rPr>
              <a:t>th</a:t>
            </a:r>
            <a:r>
              <a:rPr lang="en-US" b="1" u="sng">
                <a:latin typeface="URWPalladioL-Roma"/>
              </a:rPr>
              <a:t> </a:t>
            </a:r>
            <a:r>
              <a:rPr lang="en-US" altLang="zh-CN" b="1" u="sng">
                <a:latin typeface="URWPalladioL-Roma"/>
              </a:rPr>
              <a:t>July</a:t>
            </a:r>
            <a:r>
              <a:rPr lang="en-US" b="1" u="sng">
                <a:latin typeface="URWPalladioL-Roma"/>
              </a:rPr>
              <a:t> 2026</a:t>
            </a:r>
            <a:r>
              <a:rPr lang="en-US">
                <a:latin typeface="URWPalladioL-Roma"/>
              </a:rPr>
              <a:t>. </a:t>
            </a:r>
            <a:endParaRPr lang="en-US" i="0" u="none" strike="noStrike" baseline="0" dirty="0">
              <a:latin typeface="URWPalladioL-Rom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URWPalladioL-Roma"/>
              </a:rPr>
              <a:t>Make sure to include the results on the shared test data in both final report and presentation. 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18728828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46CA-7811-AB5A-CC14-746DB927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Details (2)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F7BE-F8A7-14E4-D061-B3D908C38963}"/>
              </a:ext>
            </a:extLst>
          </p:cNvPr>
          <p:cNvSpPr txBox="1"/>
          <p:nvPr/>
        </p:nvSpPr>
        <p:spPr>
          <a:xfrm>
            <a:off x="138934" y="1090734"/>
            <a:ext cx="11429673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URWPalladioL-Roma"/>
              </a:rPr>
              <a:t>Reference Data: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  <a:sym typeface="Verdana"/>
              </a:rPr>
              <a:t>The tree </a:t>
            </a:r>
            <a:r>
              <a:rPr lang="en-US" dirty="0">
                <a:latin typeface="URWPalladioL-Roma"/>
                <a:sym typeface="Verdana"/>
              </a:rPr>
              <a:t>species data </a:t>
            </a:r>
            <a:r>
              <a:rPr lang="en-US">
                <a:latin typeface="URWPalladioL-Roma"/>
                <a:sym typeface="Verdana"/>
              </a:rPr>
              <a:t>of T</a:t>
            </a:r>
            <a:r>
              <a:rPr lang="en-US" altLang="zh-CN">
                <a:latin typeface="URWPalladioL-Roma"/>
                <a:sym typeface="Verdana"/>
              </a:rPr>
              <a:t>reeSatAI</a:t>
            </a:r>
            <a:r>
              <a:rPr lang="en-US">
                <a:latin typeface="URWPalladioL-Roma"/>
                <a:sym typeface="Verdana"/>
              </a:rPr>
              <a:t> (Steve </a:t>
            </a:r>
            <a:r>
              <a:rPr lang="en-US" dirty="0">
                <a:latin typeface="URWPalladioL-Roma"/>
                <a:sym typeface="Verdana"/>
              </a:rPr>
              <a:t>et al</a:t>
            </a:r>
            <a:r>
              <a:rPr lang="en-US">
                <a:latin typeface="URWPalladioL-Roma"/>
                <a:sym typeface="Verdana"/>
              </a:rPr>
              <a:t>., 2022) </a:t>
            </a:r>
            <a:r>
              <a:rPr lang="en-US" dirty="0">
                <a:latin typeface="URWPalladioL-Roma"/>
                <a:sym typeface="Verdana"/>
              </a:rPr>
              <a:t>is used as the reference data, which contains a total </a:t>
            </a:r>
            <a:r>
              <a:rPr lang="en-US">
                <a:latin typeface="URWPalladioL-Roma"/>
                <a:sym typeface="Verdana"/>
              </a:rPr>
              <a:t>of </a:t>
            </a:r>
            <a:r>
              <a:rPr lang="en-US" b="1">
                <a:latin typeface="URWPalladioL-Roma"/>
                <a:sym typeface="Verdana"/>
              </a:rPr>
              <a:t>19 </a:t>
            </a:r>
            <a:r>
              <a:rPr lang="en-US" b="1" dirty="0">
                <a:latin typeface="URWPalladioL-Roma"/>
                <a:sym typeface="Verdana"/>
              </a:rPr>
              <a:t>trees species </a:t>
            </a:r>
            <a:r>
              <a:rPr lang="en-US">
                <a:latin typeface="URWPalladioL-Roma"/>
                <a:sym typeface="Verdana"/>
              </a:rPr>
              <a:t>and </a:t>
            </a:r>
            <a:r>
              <a:rPr lang="en-US" b="1">
                <a:latin typeface="URWPalladioL-Roma"/>
                <a:sym typeface="Verdana"/>
              </a:rPr>
              <a:t>37,907 sample points</a:t>
            </a:r>
            <a:r>
              <a:rPr lang="en-US">
                <a:latin typeface="URWPalladioL-Roma"/>
                <a:sym typeface="Verdana"/>
              </a:rPr>
              <a:t>. The tree species count </a:t>
            </a:r>
            <a:r>
              <a:rPr lang="en-US" dirty="0">
                <a:latin typeface="URWPalladioL-Roma"/>
                <a:sym typeface="Verdana"/>
              </a:rPr>
              <a:t>is shown as </a:t>
            </a:r>
            <a:r>
              <a:rPr lang="en-US">
                <a:latin typeface="URWPalladioL-Roma"/>
                <a:sym typeface="Verdana"/>
              </a:rPr>
              <a:t>follows:</a:t>
            </a:r>
            <a:endParaRPr lang="en-US" dirty="0">
              <a:latin typeface="URWPalladioL-R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47BDD10-4306-8A7D-835F-A3E4AD05E85A}"/>
              </a:ext>
            </a:extLst>
          </p:cNvPr>
          <p:cNvSpPr txBox="1"/>
          <p:nvPr/>
        </p:nvSpPr>
        <p:spPr>
          <a:xfrm>
            <a:off x="4223792" y="5301208"/>
            <a:ext cx="8660495" cy="5732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400">
                <a:solidFill>
                  <a:schemeClr val="bg1">
                    <a:lumMod val="50000"/>
                  </a:schemeClr>
                </a:solidFill>
                <a:latin typeface="URWPalladioL-Roma"/>
              </a:rPr>
              <a:t>Ahlswede, Steve, et al. "TreeSatAI Benchmark Archive: A multi-sensor, multi-label dataset for tree species classification in remote sensing." Earth System Science Data Discussions 2022 (2022): 1-22.</a:t>
            </a:r>
            <a:endParaRPr lang="en-US" sz="1400" dirty="0">
              <a:solidFill>
                <a:schemeClr val="bg1">
                  <a:lumMod val="50000"/>
                </a:schemeClr>
              </a:solidFill>
              <a:latin typeface="URWPalladioL-Rom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60FA9153-F0DE-6F18-336E-53C35F158C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48" t="13066" r="1875" b="3314"/>
          <a:stretch/>
        </p:blipFill>
        <p:spPr>
          <a:xfrm>
            <a:off x="138934" y="2636912"/>
            <a:ext cx="11789715" cy="230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423324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46CA-7811-AB5A-CC14-746DB927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Details (3)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F7BE-F8A7-14E4-D061-B3D908C38963}"/>
              </a:ext>
            </a:extLst>
          </p:cNvPr>
          <p:cNvSpPr txBox="1"/>
          <p:nvPr/>
        </p:nvSpPr>
        <p:spPr>
          <a:xfrm>
            <a:off x="138934" y="1090734"/>
            <a:ext cx="11429673" cy="59477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URWPalladioL-Roma"/>
              </a:rPr>
              <a:t>Reference Data Format: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b="1" u="sng">
                <a:latin typeface="URWPalladioL-Roma"/>
                <a:sym typeface="Verdana"/>
              </a:rPr>
              <a:t>TreeSatAI.csv </a:t>
            </a:r>
            <a:r>
              <a:rPr lang="en-US" dirty="0">
                <a:latin typeface="URWPalladioL-Roma"/>
                <a:sym typeface="Verdana"/>
              </a:rPr>
              <a:t>contains the coordinates (X, Y) and the </a:t>
            </a:r>
            <a:r>
              <a:rPr lang="en-US">
                <a:latin typeface="URWPalladioL-Roma"/>
                <a:sym typeface="Verdana"/>
              </a:rPr>
              <a:t>name (l3_species) </a:t>
            </a:r>
            <a:r>
              <a:rPr lang="en-US" dirty="0">
                <a:latin typeface="URWPalladioL-Roma"/>
                <a:sym typeface="Verdana"/>
              </a:rPr>
              <a:t>of tree species.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  <a:sym typeface="Verdan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  <a:sym typeface="Verdan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  <a:sym typeface="Verdan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  <a:sym typeface="Verdan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  <a:sym typeface="Verdan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  <a:sym typeface="Verdana"/>
            </a:endParaRPr>
          </a:p>
          <a:p>
            <a:pPr lvl="1"/>
            <a:endParaRPr lang="en-US" dirty="0">
              <a:latin typeface="URWPalladioL-Rom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8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20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0" marR="0" lvl="0" indent="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-US" sz="1200" dirty="0">
              <a:solidFill>
                <a:schemeClr val="dk1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b="1" dirty="0">
              <a:latin typeface="URWPalladioL-Rom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2000" i="0" u="none" strike="noStrike" baseline="0" dirty="0">
              <a:latin typeface="URWPalladioL-Rom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de-DE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3547934-F531-A9A8-081B-84334029BECA}"/>
              </a:ext>
            </a:extLst>
          </p:cNvPr>
          <p:cNvSpPr txBox="1"/>
          <p:nvPr/>
        </p:nvSpPr>
        <p:spPr>
          <a:xfrm>
            <a:off x="5519935" y="1972349"/>
            <a:ext cx="5878805" cy="2703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  <a:sym typeface="Verdana"/>
              </a:rPr>
              <a:t>(</a:t>
            </a:r>
            <a:r>
              <a:rPr lang="en-US" dirty="0">
                <a:latin typeface="URWPalladioL-Roma"/>
                <a:sym typeface="Verdana"/>
              </a:rPr>
              <a:t>X, Y) indicates coordinates of tree species in </a:t>
            </a:r>
            <a:r>
              <a:rPr lang="en-US">
                <a:latin typeface="URWPalladioL-Roma"/>
                <a:sym typeface="Verdana"/>
              </a:rPr>
              <a:t>a ETRS89 / UTM zone 32N </a:t>
            </a:r>
            <a:r>
              <a:rPr lang="en-US" dirty="0">
                <a:latin typeface="URWPalladioL-Roma"/>
                <a:sym typeface="Verdana"/>
              </a:rPr>
              <a:t>reference </a:t>
            </a:r>
            <a:r>
              <a:rPr lang="en-US">
                <a:latin typeface="URWPalladioL-Roma"/>
                <a:sym typeface="Verdana"/>
              </a:rPr>
              <a:t>coordinate system (EPSG:25832)</a:t>
            </a:r>
          </a:p>
          <a:p>
            <a:pPr marL="342900" marR="0" lvl="0" indent="-342900" algn="l" rtl="0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  <a:sym typeface="Verdana"/>
              </a:rPr>
              <a:t>Except level3 species labels (l3_species), each sample record also contains level2 genus labels (l2_genus) and level1 leaf type labels (l1_leaf_types)</a:t>
            </a:r>
            <a:endParaRPr lang="en-US" dirty="0">
              <a:latin typeface="URWPalladioL-Roma"/>
              <a:sym typeface="Verdana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09BEDF6-794F-2409-EEB7-80BC377E85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59" y="1844824"/>
            <a:ext cx="4366638" cy="4206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11709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46CA-7811-AB5A-CC14-746DB927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Details (4)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F7BE-F8A7-14E4-D061-B3D908C38963}"/>
              </a:ext>
            </a:extLst>
          </p:cNvPr>
          <p:cNvSpPr txBox="1"/>
          <p:nvPr/>
        </p:nvSpPr>
        <p:spPr>
          <a:xfrm>
            <a:off x="138934" y="1090734"/>
            <a:ext cx="11429673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URWPalladioL-Roma"/>
              </a:rPr>
              <a:t>Reference Data Visualization</a:t>
            </a:r>
            <a:r>
              <a:rPr lang="en-US" b="1">
                <a:latin typeface="URWPalladioL-Roma"/>
              </a:rPr>
              <a:t>: </a:t>
            </a:r>
            <a:endParaRPr lang="en-US" b="1" dirty="0">
              <a:latin typeface="URWPalladioL-Roma"/>
            </a:endParaRPr>
          </a:p>
        </p:txBody>
      </p:sp>
      <p:sp>
        <p:nvSpPr>
          <p:cNvPr id="5" name="Google Shape;81;g1b91b975ea6_0_19">
            <a:extLst>
              <a:ext uri="{FF2B5EF4-FFF2-40B4-BE49-F238E27FC236}">
                <a16:creationId xmlns:a16="http://schemas.microsoft.com/office/drawing/2014/main" id="{3850BE67-3CCC-E6BA-0332-9DB435DC08AA}"/>
              </a:ext>
            </a:extLst>
          </p:cNvPr>
          <p:cNvSpPr txBox="1"/>
          <p:nvPr/>
        </p:nvSpPr>
        <p:spPr>
          <a:xfrm>
            <a:off x="5478087" y="5730944"/>
            <a:ext cx="5256585" cy="4000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i="1" dirty="0"/>
              <a:t>Fig: Visualization </a:t>
            </a:r>
            <a:r>
              <a:rPr lang="en-US" sz="1400" i="1"/>
              <a:t>of </a:t>
            </a:r>
            <a:r>
              <a:rPr lang="zh-CN" altLang="en-US" sz="1400" i="1"/>
              <a:t>“</a:t>
            </a:r>
            <a:r>
              <a:rPr lang="en-GB" sz="1400" i="1"/>
              <a:t>TreeSatAI” dataset</a:t>
            </a:r>
            <a:endParaRPr sz="1400" i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E0E94BA-C647-C3CE-1AB5-E777DA148D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496" y="1565976"/>
            <a:ext cx="3384376" cy="436500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3208709-DD7D-7C87-C902-71CDE974C8B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8750" y="1490844"/>
            <a:ext cx="3890130" cy="358227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497DF35F-C43E-2E8D-A7D5-049D3C32CBD6}"/>
              </a:ext>
            </a:extLst>
          </p:cNvPr>
          <p:cNvSpPr/>
          <p:nvPr/>
        </p:nvSpPr>
        <p:spPr bwMode="auto">
          <a:xfrm>
            <a:off x="1919536" y="2060848"/>
            <a:ext cx="1800200" cy="1656184"/>
          </a:xfrm>
          <a:prstGeom prst="rect">
            <a:avLst/>
          </a:prstGeom>
          <a:noFill/>
          <a:ln w="19050">
            <a:headEnd type="none" w="med" len="med"/>
            <a:tailEnd type="none" w="med" len="med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EB641DB5-9F39-2E85-0872-E5AECB89B4DA}"/>
              </a:ext>
            </a:extLst>
          </p:cNvPr>
          <p:cNvCxnSpPr>
            <a:cxnSpLocks/>
          </p:cNvCxnSpPr>
          <p:nvPr/>
        </p:nvCxnSpPr>
        <p:spPr bwMode="auto">
          <a:xfrm flipV="1">
            <a:off x="3719736" y="1490844"/>
            <a:ext cx="1758351" cy="570004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599B4097-5EC5-F674-B229-8A0F02C18184}"/>
              </a:ext>
            </a:extLst>
          </p:cNvPr>
          <p:cNvCxnSpPr>
            <a:cxnSpLocks/>
          </p:cNvCxnSpPr>
          <p:nvPr/>
        </p:nvCxnSpPr>
        <p:spPr bwMode="auto">
          <a:xfrm>
            <a:off x="3719736" y="3717032"/>
            <a:ext cx="1769014" cy="1356090"/>
          </a:xfrm>
          <a:prstGeom prst="line">
            <a:avLst/>
          </a:prstGeom>
          <a:ln w="19050">
            <a:headEnd type="none" w="med" len="med"/>
            <a:tailEnd type="none" w="med" len="med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F50249C4-468D-0FC8-08B4-DEB02BE0423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93294" y="1857203"/>
            <a:ext cx="1158340" cy="32159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360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46CA-7811-AB5A-CC14-746DB927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Details (5)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F7BE-F8A7-14E4-D061-B3D908C38963}"/>
              </a:ext>
            </a:extLst>
          </p:cNvPr>
          <p:cNvSpPr txBox="1"/>
          <p:nvPr/>
        </p:nvSpPr>
        <p:spPr>
          <a:xfrm>
            <a:off x="138934" y="1090734"/>
            <a:ext cx="114296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URWPalladioL-Roma"/>
              </a:rPr>
              <a:t>Satellite Data Acquisition: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URWPalladioL-Roma"/>
                <a:sym typeface="Verdana"/>
              </a:rPr>
              <a:t>Download the Sentinel-2 data using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URWPalladioL-Roma"/>
                <a:sym typeface="Verdana"/>
              </a:rPr>
              <a:t>Example illustration to download the data: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>
                <a:latin typeface="URWPalladioL-Roma"/>
                <a:sym typeface="Verdana"/>
              </a:rPr>
              <a:t>Upload “TreeSatAI.csv” to Google Earth Engine</a:t>
            </a:r>
            <a:endParaRPr lang="en-US" dirty="0">
              <a:latin typeface="URWPalladioL-Roma"/>
              <a:sym typeface="Verdana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58555AB-8D91-B5D9-F418-D7865B50BBD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9856" y="1422608"/>
            <a:ext cx="2309060" cy="35817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045EBAAB-A7DB-4460-9804-32288A9FFD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19536" y="2414173"/>
            <a:ext cx="3038642" cy="360970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53F05435-946F-4F8E-8AC9-8BCD99A35101}"/>
              </a:ext>
            </a:extLst>
          </p:cNvPr>
          <p:cNvSpPr/>
          <p:nvPr/>
        </p:nvSpPr>
        <p:spPr bwMode="auto">
          <a:xfrm>
            <a:off x="1991544" y="4845850"/>
            <a:ext cx="1224136" cy="432048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43A3DCF-D3AE-BAE2-2306-F171A6BDF3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13200" y="2472555"/>
            <a:ext cx="3241247" cy="373448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7ABB421-74B9-99F3-8212-746CE9D2D16E}"/>
              </a:ext>
            </a:extLst>
          </p:cNvPr>
          <p:cNvSpPr/>
          <p:nvPr/>
        </p:nvSpPr>
        <p:spPr bwMode="auto">
          <a:xfrm>
            <a:off x="5549106" y="4211644"/>
            <a:ext cx="2851150" cy="369484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A283AD3D-55A8-CE12-3C4D-BBC9033FDCC3}"/>
              </a:ext>
            </a:extLst>
          </p:cNvPr>
          <p:cNvSpPr/>
          <p:nvPr/>
        </p:nvSpPr>
        <p:spPr bwMode="auto">
          <a:xfrm>
            <a:off x="5543823" y="4829862"/>
            <a:ext cx="1344265" cy="327330"/>
          </a:xfrm>
          <a:prstGeom prst="rect">
            <a:avLst/>
          </a:prstGeom>
          <a:noFill/>
          <a:ln>
            <a:headEnd type="none" w="med" len="med"/>
            <a:tailEnd type="none" w="med" len="med"/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2619841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46CA-7811-AB5A-CC14-746DB927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/>
              <a:t>Details (5)</a:t>
            </a:r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F7BE-F8A7-14E4-D061-B3D908C38963}"/>
              </a:ext>
            </a:extLst>
          </p:cNvPr>
          <p:cNvSpPr txBox="1"/>
          <p:nvPr/>
        </p:nvSpPr>
        <p:spPr>
          <a:xfrm>
            <a:off x="138934" y="1090734"/>
            <a:ext cx="11429673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URWPalladioL-Roma"/>
              </a:rPr>
              <a:t>Satellite Data Acquisition: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  <a:sym typeface="Verdana"/>
              </a:rPr>
              <a:t>Code demo to </a:t>
            </a:r>
            <a:r>
              <a:rPr lang="en-US" dirty="0">
                <a:latin typeface="URWPalladioL-Roma"/>
                <a:sym typeface="Verdana"/>
              </a:rPr>
              <a:t>download </a:t>
            </a:r>
            <a:r>
              <a:rPr lang="en-US">
                <a:latin typeface="URWPalladioL-Roma"/>
                <a:sym typeface="Verdana"/>
              </a:rPr>
              <a:t>the Sentinel-2 data</a:t>
            </a:r>
            <a:r>
              <a:rPr lang="en-US" dirty="0">
                <a:latin typeface="URWPalladioL-Roma"/>
                <a:sym typeface="Verdana"/>
              </a:rPr>
              <a:t>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>
                <a:latin typeface="URWPalladioL-Roma"/>
                <a:sym typeface="Verdana"/>
              </a:rPr>
              <a:t>I</a:t>
            </a:r>
            <a:r>
              <a:rPr lang="en-US" altLang="zh-CN">
                <a:latin typeface="URWPalladioL-Roma"/>
                <a:sym typeface="Verdana"/>
              </a:rPr>
              <a:t>mport data and </a:t>
            </a:r>
            <a:r>
              <a:rPr lang="en-US">
                <a:latin typeface="URWPalladioL-Roma"/>
                <a:sym typeface="Verdana"/>
              </a:rPr>
              <a:t>select the Region-Of-Interest (ROI)</a:t>
            </a:r>
          </a:p>
          <a:p>
            <a:pPr marL="1371600" lvl="2" indent="-457200">
              <a:buFont typeface="+mj-lt"/>
              <a:buAutoNum type="arabicPeriod"/>
            </a:pPr>
            <a:endParaRPr lang="en-US">
              <a:latin typeface="URWPalladioL-Roma"/>
              <a:sym typeface="Verdana"/>
            </a:endParaRPr>
          </a:p>
          <a:p>
            <a:pPr marL="1371600" lvl="2" indent="-457200">
              <a:buFont typeface="+mj-lt"/>
              <a:buAutoNum type="arabicPeriod"/>
            </a:pPr>
            <a:endParaRPr lang="en-US">
              <a:latin typeface="URWPalladioL-Roma"/>
              <a:sym typeface="Verdana"/>
            </a:endParaRPr>
          </a:p>
          <a:p>
            <a:pPr marL="1371600" lvl="2" indent="-457200">
              <a:buFont typeface="+mj-lt"/>
              <a:buAutoNum type="arabicPeriod"/>
            </a:pPr>
            <a:endParaRPr lang="en-US">
              <a:latin typeface="URWPalladioL-Roma"/>
              <a:sym typeface="Verdana"/>
            </a:endParaRPr>
          </a:p>
          <a:p>
            <a:pPr marL="1371600" lvl="2" indent="-457200">
              <a:buFont typeface="+mj-lt"/>
              <a:buAutoNum type="arabicPeriod"/>
            </a:pPr>
            <a:endParaRPr lang="en-US">
              <a:latin typeface="URWPalladioL-Roma"/>
              <a:sym typeface="Verdana"/>
            </a:endParaRPr>
          </a:p>
          <a:p>
            <a:pPr marL="1371600" lvl="2" indent="-457200">
              <a:buFont typeface="+mj-lt"/>
              <a:buAutoNum type="arabicPeriod"/>
            </a:pPr>
            <a:endParaRPr lang="en-US">
              <a:latin typeface="URWPalladioL-Roma"/>
              <a:sym typeface="Verdana"/>
            </a:endParaRPr>
          </a:p>
          <a:p>
            <a:pPr marL="1371600" lvl="2" indent="-457200">
              <a:buFont typeface="+mj-lt"/>
              <a:buAutoNum type="arabicPeriod"/>
            </a:pPr>
            <a:r>
              <a:rPr lang="en-US">
                <a:latin typeface="URWPalladioL-Roma"/>
                <a:sym typeface="Verdana"/>
              </a:rPr>
              <a:t> Define the feature combination</a:t>
            </a:r>
            <a:endParaRPr lang="en-US" dirty="0">
              <a:latin typeface="URWPalladioL-Roma"/>
              <a:sym typeface="Verdana"/>
            </a:endParaRPr>
          </a:p>
          <a:p>
            <a:pPr lvl="2"/>
            <a:endParaRPr lang="en-US" dirty="0">
              <a:latin typeface="URWPalladioL-Roma"/>
              <a:sym typeface="Verdana"/>
            </a:endParaRPr>
          </a:p>
          <a:p>
            <a:pPr lvl="2"/>
            <a:endParaRPr lang="en-US" dirty="0">
              <a:latin typeface="URWPalladioL-Roma"/>
              <a:sym typeface="Verdana"/>
            </a:endParaRPr>
          </a:p>
          <a:p>
            <a:pPr lvl="2"/>
            <a:endParaRPr lang="en-US" dirty="0">
              <a:latin typeface="URWPalladioL-Roma"/>
              <a:sym typeface="Verdana"/>
            </a:endParaRPr>
          </a:p>
          <a:p>
            <a:pPr marL="1371600" lvl="2" indent="-457200">
              <a:buFont typeface="+mj-lt"/>
              <a:buAutoNum type="arabicPeriod"/>
            </a:pPr>
            <a:endParaRPr lang="en-US" dirty="0">
              <a:latin typeface="URWPalladioL-Roma"/>
              <a:sym typeface="Verdana"/>
            </a:endParaRPr>
          </a:p>
          <a:p>
            <a:pPr marL="1371600" lvl="2" indent="-457200">
              <a:buFont typeface="+mj-lt"/>
              <a:buAutoNum type="arabicPeriod"/>
            </a:pPr>
            <a:endParaRPr lang="en-US" dirty="0">
              <a:latin typeface="URWPalladioL-Roma"/>
              <a:sym typeface="Verdana"/>
            </a:endParaRPr>
          </a:p>
          <a:p>
            <a:pPr marL="1371600" lvl="2" indent="-457200">
              <a:buFont typeface="+mj-lt"/>
              <a:buAutoNum type="arabicPeriod"/>
            </a:pPr>
            <a:endParaRPr lang="en-US" dirty="0">
              <a:latin typeface="URWPalladioL-Roma"/>
              <a:sym typeface="Verdana"/>
            </a:endParaRPr>
          </a:p>
          <a:p>
            <a:pPr marL="1371600" lvl="2" indent="-457200">
              <a:buFont typeface="+mj-lt"/>
              <a:buAutoNum type="arabicPeriod"/>
            </a:pPr>
            <a:endParaRPr lang="en-US" dirty="0">
              <a:latin typeface="URWPalladioL-Roma"/>
              <a:sym typeface="Verdan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2000" i="0" u="none" strike="noStrike" baseline="0" dirty="0">
              <a:latin typeface="URWPalladioL-Rom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851BA0-3397-6B9F-5B45-334983CFED13}"/>
              </a:ext>
            </a:extLst>
          </p:cNvPr>
          <p:cNvSpPr txBox="1"/>
          <p:nvPr/>
        </p:nvSpPr>
        <p:spPr>
          <a:xfrm>
            <a:off x="948694" y="5537269"/>
            <a:ext cx="1114164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URWPalladioL-Roma"/>
              </a:rPr>
              <a:t>Link for the code</a:t>
            </a:r>
            <a:r>
              <a:rPr lang="en-US">
                <a:latin typeface="URWPalladioL-Roma"/>
              </a:rPr>
              <a:t>: </a:t>
            </a:r>
          </a:p>
          <a:p>
            <a:pPr algn="l"/>
            <a:r>
              <a:rPr lang="en-US">
                <a:solidFill>
                  <a:schemeClr val="bg2"/>
                </a:solidFill>
                <a:latin typeface="URWPalladioL-Roma"/>
                <a:hlinkClick r:id="rId2"/>
              </a:rPr>
              <a:t>https://code.earthengine.google.com/8def80c3a1576bcf1e44f8f0cd19ba9b</a:t>
            </a:r>
            <a:r>
              <a:rPr lang="en-US">
                <a:solidFill>
                  <a:schemeClr val="bg2"/>
                </a:solidFill>
                <a:latin typeface="URWPalladioL-Roma"/>
              </a:rPr>
              <a:t>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93A5E307-F0FE-399B-C27A-4D1B7B9FAF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9456" y="2167318"/>
            <a:ext cx="6408712" cy="12616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1EC0E3A-5E72-7AED-C03B-C71BA0A9E30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99456" y="3909714"/>
            <a:ext cx="6662635" cy="14635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531667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46CA-7811-AB5A-CC14-746DB927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/>
              <a:t>Details (5)</a:t>
            </a:r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F7BE-F8A7-14E4-D061-B3D908C38963}"/>
              </a:ext>
            </a:extLst>
          </p:cNvPr>
          <p:cNvSpPr txBox="1"/>
          <p:nvPr/>
        </p:nvSpPr>
        <p:spPr>
          <a:xfrm>
            <a:off x="138934" y="1090734"/>
            <a:ext cx="11429673" cy="47705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URWPalladioL-Roma"/>
              </a:rPr>
              <a:t>Satellite Data Acquisition: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  <a:sym typeface="Verdana"/>
              </a:rPr>
              <a:t>Code demo to </a:t>
            </a:r>
            <a:r>
              <a:rPr lang="en-US" dirty="0">
                <a:latin typeface="URWPalladioL-Roma"/>
                <a:sym typeface="Verdana"/>
              </a:rPr>
              <a:t>download </a:t>
            </a:r>
            <a:r>
              <a:rPr lang="en-US">
                <a:latin typeface="URWPalladioL-Roma"/>
                <a:sym typeface="Verdana"/>
              </a:rPr>
              <a:t>the Sentinel-2 data</a:t>
            </a:r>
            <a:r>
              <a:rPr lang="en-US" dirty="0">
                <a:latin typeface="URWPalladioL-Roma"/>
                <a:sym typeface="Verdana"/>
              </a:rPr>
              <a:t>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>
                <a:latin typeface="URWPalladioL-Roma"/>
                <a:sym typeface="Verdana"/>
              </a:rPr>
              <a:t>I</a:t>
            </a:r>
            <a:r>
              <a:rPr lang="en-US" altLang="zh-CN">
                <a:latin typeface="URWPalladioL-Roma"/>
                <a:sym typeface="Verdana"/>
              </a:rPr>
              <a:t>mport data and </a:t>
            </a:r>
            <a:r>
              <a:rPr lang="en-US">
                <a:latin typeface="URWPalladioL-Roma"/>
                <a:sym typeface="Verdana"/>
              </a:rPr>
              <a:t>select the Region-Of-Interest (ROI)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>
                <a:latin typeface="URWPalladioL-Roma"/>
                <a:sym typeface="Verdana"/>
              </a:rPr>
              <a:t>Define the feature combination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>
                <a:latin typeface="URWPalladioL-Roma"/>
                <a:sym typeface="Verdana"/>
              </a:rPr>
              <a:t>Access Sentinel-2 data</a:t>
            </a:r>
          </a:p>
          <a:p>
            <a:pPr lvl="2"/>
            <a:endParaRPr lang="en-US">
              <a:latin typeface="URWPalladioL-Roma"/>
              <a:sym typeface="Verdana"/>
            </a:endParaRPr>
          </a:p>
          <a:p>
            <a:pPr lvl="2"/>
            <a:endParaRPr lang="en-US" sz="800">
              <a:latin typeface="URWPalladioL-Roma"/>
              <a:sym typeface="Verdan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>
                <a:latin typeface="URWPalladioL-Roma"/>
                <a:sym typeface="Verdana"/>
              </a:rPr>
              <a:t>The 10 spectral bands and 5 vegetation </a:t>
            </a:r>
          </a:p>
          <a:p>
            <a:pPr lvl="2"/>
            <a:r>
              <a:rPr lang="en-US">
                <a:latin typeface="URWPalladioL-Roma"/>
                <a:sym typeface="Verdana"/>
              </a:rPr>
              <a:t>bands are selected as feature combination</a:t>
            </a:r>
          </a:p>
          <a:p>
            <a:pPr lvl="2"/>
            <a:endParaRPr lang="en-US" sz="800">
              <a:latin typeface="URWPalladioL-Roma"/>
              <a:sym typeface="Verdan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>
                <a:latin typeface="URWPalladioL-Roma"/>
                <a:sym typeface="Verdana"/>
              </a:rPr>
              <a:t>Images are grouped monthly throughout </a:t>
            </a:r>
          </a:p>
          <a:p>
            <a:pPr lvl="2"/>
            <a:r>
              <a:rPr lang="en-US">
                <a:latin typeface="URWPalladioL-Roma"/>
                <a:sym typeface="Verdana"/>
              </a:rPr>
              <a:t>the tree growing season (Mar. – Oct. 2022)</a:t>
            </a:r>
          </a:p>
          <a:p>
            <a:pPr lvl="2"/>
            <a:endParaRPr lang="en-US" sz="800">
              <a:latin typeface="URWPalladioL-Roma"/>
              <a:sym typeface="Verdana"/>
            </a:endParaRPr>
          </a:p>
          <a:p>
            <a:pPr marL="1257300" lvl="2" indent="-342900">
              <a:buFont typeface="Arial" panose="020B0604020202020204" pitchFamily="34" charset="0"/>
              <a:buChar char="•"/>
            </a:pPr>
            <a:r>
              <a:rPr lang="en-US">
                <a:latin typeface="URWPalladioL-Roma"/>
                <a:sym typeface="Verdana"/>
              </a:rPr>
              <a:t>Each sample contains (num_month * </a:t>
            </a:r>
          </a:p>
          <a:p>
            <a:pPr lvl="2"/>
            <a:r>
              <a:rPr lang="en-US">
                <a:latin typeface="URWPalladioL-Roma"/>
                <a:sym typeface="Verdana"/>
              </a:rPr>
              <a:t>(10+5)) feature channels</a:t>
            </a:r>
            <a:endParaRPr lang="en-US" dirty="0">
              <a:latin typeface="URWPalladioL-Roma"/>
              <a:sym typeface="Verdan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2000" i="0" u="none" strike="noStrike" baseline="0" dirty="0">
              <a:latin typeface="URWPalladioL-Rom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2805D23-EEBC-F088-EFEC-AEFCAEF490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458" y="2068595"/>
            <a:ext cx="5635742" cy="34215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038446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46CA-7811-AB5A-CC14-746DB927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Details (5)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F7BE-F8A7-14E4-D061-B3D908C38963}"/>
              </a:ext>
            </a:extLst>
          </p:cNvPr>
          <p:cNvSpPr txBox="1"/>
          <p:nvPr/>
        </p:nvSpPr>
        <p:spPr>
          <a:xfrm>
            <a:off x="138934" y="1090734"/>
            <a:ext cx="1142967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URWPalladioL-Roma"/>
              </a:rPr>
              <a:t>Satellite Data Acquisition: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  <a:sym typeface="Verdana"/>
              </a:rPr>
              <a:t>Code demo to download the Sentinel-2 data: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>
                <a:latin typeface="URWPalladioL-Roma"/>
                <a:sym typeface="Verdana"/>
              </a:rPr>
              <a:t>I</a:t>
            </a:r>
            <a:r>
              <a:rPr lang="en-US" altLang="zh-CN">
                <a:latin typeface="URWPalladioL-Roma"/>
                <a:sym typeface="Verdana"/>
              </a:rPr>
              <a:t>mport data and </a:t>
            </a:r>
            <a:r>
              <a:rPr lang="en-US">
                <a:latin typeface="URWPalladioL-Roma"/>
                <a:sym typeface="Verdana"/>
              </a:rPr>
              <a:t>select the Region-Of-Interest (ROI)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>
                <a:latin typeface="URWPalladioL-Roma"/>
                <a:sym typeface="Verdana"/>
              </a:rPr>
              <a:t>Define the feature combination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>
                <a:latin typeface="URWPalladioL-Roma"/>
                <a:sym typeface="Verdana"/>
              </a:rPr>
              <a:t>Access Sentinel-2 data</a:t>
            </a:r>
          </a:p>
          <a:p>
            <a:pPr marL="1371600" lvl="2" indent="-457200">
              <a:buFont typeface="+mj-lt"/>
              <a:buAutoNum type="arabicPeriod"/>
            </a:pPr>
            <a:r>
              <a:rPr lang="en-US">
                <a:latin typeface="URWPalladioL-Roma"/>
                <a:sym typeface="Verdana"/>
              </a:rPr>
              <a:t>Data export</a:t>
            </a:r>
            <a:endParaRPr lang="en-US" dirty="0">
              <a:latin typeface="URWPalladioL-Roma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728ABC-AB71-68C3-E971-FBA4AA3ADD40}"/>
              </a:ext>
            </a:extLst>
          </p:cNvPr>
          <p:cNvSpPr txBox="1"/>
          <p:nvPr/>
        </p:nvSpPr>
        <p:spPr>
          <a:xfrm>
            <a:off x="579648" y="3029726"/>
            <a:ext cx="6027938" cy="30162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URWPalladioL-Roma"/>
              </a:rPr>
              <a:t>Kernel was used to clip the </a:t>
            </a:r>
            <a:r>
              <a:rPr lang="en-US" altLang="zh-CN">
                <a:latin typeface="URWPalladioL-Roma"/>
              </a:rPr>
              <a:t>data</a:t>
            </a:r>
            <a:r>
              <a:rPr lang="en-US">
                <a:latin typeface="URWPalladioL-Roma"/>
              </a:rPr>
              <a:t> patch to 5*5 pixels</a:t>
            </a:r>
          </a:p>
          <a:p>
            <a:endParaRPr lang="en-US">
              <a:latin typeface="URWPalladioL-Roma"/>
            </a:endParaRPr>
          </a:p>
          <a:p>
            <a:endParaRPr lang="en-US">
              <a:latin typeface="URWPalladioL-Roma"/>
            </a:endParaRPr>
          </a:p>
          <a:p>
            <a:endParaRPr lang="en-US">
              <a:latin typeface="URWPalladioL-Roma"/>
            </a:endParaRPr>
          </a:p>
          <a:p>
            <a:endParaRPr lang="en-US">
              <a:latin typeface="URWPalladioL-Roma"/>
            </a:endParaRPr>
          </a:p>
          <a:p>
            <a:endParaRPr lang="en-US">
              <a:latin typeface="URWPalladioL-Roma"/>
            </a:endParaRPr>
          </a:p>
          <a:p>
            <a:endParaRPr lang="en-US">
              <a:latin typeface="URWPalladioL-Rom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1000">
              <a:latin typeface="URWPalladioL-Roma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>
                <a:latin typeface="URWPalladioL-Roma"/>
              </a:rPr>
              <a:t>All the data patches of different species are exported to Google drive folder as Geojson files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13DBF6B-800B-05AE-E958-7CFBFB835E6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88088" y="2109278"/>
            <a:ext cx="4996886" cy="2404202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9B863D3-CC18-410E-9BFB-A8C890E864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457" y="4647896"/>
            <a:ext cx="4728425" cy="931284"/>
          </a:xfrm>
          <a:prstGeom prst="rect">
            <a:avLst/>
          </a:prstGeom>
        </p:spPr>
      </p:pic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9BFA145B-4FA5-9667-7167-EE3461CE53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86491453"/>
              </p:ext>
            </p:extLst>
          </p:nvPr>
        </p:nvGraphicFramePr>
        <p:xfrm>
          <a:off x="1847528" y="3449235"/>
          <a:ext cx="1872206" cy="1828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329834">
                  <a:extLst>
                    <a:ext uri="{9D8B030D-6E8A-4147-A177-3AD203B41FA5}">
                      <a16:colId xmlns:a16="http://schemas.microsoft.com/office/drawing/2014/main" val="3203936624"/>
                    </a:ext>
                  </a:extLst>
                </a:gridCol>
                <a:gridCol w="385593">
                  <a:extLst>
                    <a:ext uri="{9D8B030D-6E8A-4147-A177-3AD203B41FA5}">
                      <a16:colId xmlns:a16="http://schemas.microsoft.com/office/drawing/2014/main" val="1420513934"/>
                    </a:ext>
                  </a:extLst>
                </a:gridCol>
                <a:gridCol w="385593">
                  <a:extLst>
                    <a:ext uri="{9D8B030D-6E8A-4147-A177-3AD203B41FA5}">
                      <a16:colId xmlns:a16="http://schemas.microsoft.com/office/drawing/2014/main" val="3543674720"/>
                    </a:ext>
                  </a:extLst>
                </a:gridCol>
                <a:gridCol w="385593">
                  <a:extLst>
                    <a:ext uri="{9D8B030D-6E8A-4147-A177-3AD203B41FA5}">
                      <a16:colId xmlns:a16="http://schemas.microsoft.com/office/drawing/2014/main" val="3297547062"/>
                    </a:ext>
                  </a:extLst>
                </a:gridCol>
                <a:gridCol w="385593">
                  <a:extLst>
                    <a:ext uri="{9D8B030D-6E8A-4147-A177-3AD203B41FA5}">
                      <a16:colId xmlns:a16="http://schemas.microsoft.com/office/drawing/2014/main" val="96951543"/>
                    </a:ext>
                  </a:extLst>
                </a:gridCol>
              </a:tblGrid>
              <a:tr h="31577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 sz="12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14948648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91217416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06893943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67606030"/>
                  </a:ext>
                </a:extLst>
              </a:tr>
              <a:tr h="315778"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endParaRPr lang="en-GB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05538812"/>
                  </a:ext>
                </a:extLst>
              </a:tr>
            </a:tbl>
          </a:graphicData>
        </a:graphic>
      </p:graphicFrame>
      <p:sp>
        <p:nvSpPr>
          <p:cNvPr id="13" name="Flowchart: Connector 12">
            <a:extLst>
              <a:ext uri="{FF2B5EF4-FFF2-40B4-BE49-F238E27FC236}">
                <a16:creationId xmlns:a16="http://schemas.microsoft.com/office/drawing/2014/main" id="{02D5286B-B8D1-2C54-D16C-8597B1118A7A}"/>
              </a:ext>
            </a:extLst>
          </p:cNvPr>
          <p:cNvSpPr/>
          <p:nvPr/>
        </p:nvSpPr>
        <p:spPr bwMode="auto">
          <a:xfrm>
            <a:off x="2567608" y="4183615"/>
            <a:ext cx="375868" cy="360040"/>
          </a:xfrm>
          <a:prstGeom prst="flowChartConnector">
            <a:avLst/>
          </a:prstGeom>
          <a:solidFill>
            <a:schemeClr val="tx2">
              <a:lumMod val="40000"/>
              <a:lumOff val="60000"/>
            </a:schemeClr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marL="0" marR="0" indent="0" algn="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</a:endParaRPr>
          </a:p>
        </p:txBody>
      </p: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9DBE6275-1CE9-5F41-0129-51C1275BE434}"/>
              </a:ext>
            </a:extLst>
          </p:cNvPr>
          <p:cNvCxnSpPr>
            <a:cxnSpLocks/>
          </p:cNvCxnSpPr>
          <p:nvPr/>
        </p:nvCxnSpPr>
        <p:spPr bwMode="auto">
          <a:xfrm flipV="1">
            <a:off x="2755542" y="4358471"/>
            <a:ext cx="1252226" cy="919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triangle"/>
          </a:ln>
          <a:effectLst/>
        </p:spPr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id="{7EBE0D31-109F-DBAA-295E-5EB0E830924F}"/>
              </a:ext>
            </a:extLst>
          </p:cNvPr>
          <p:cNvSpPr txBox="1"/>
          <p:nvPr/>
        </p:nvSpPr>
        <p:spPr>
          <a:xfrm>
            <a:off x="4012443" y="4229856"/>
            <a:ext cx="10071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latin typeface="URWPalladioL-Roma"/>
              </a:rPr>
              <a:t>Sample point</a:t>
            </a:r>
          </a:p>
        </p:txBody>
      </p: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2C62690C-5838-6BFA-B86E-696369B6D9DE}"/>
              </a:ext>
            </a:extLst>
          </p:cNvPr>
          <p:cNvCxnSpPr>
            <a:cxnSpLocks/>
          </p:cNvCxnSpPr>
          <p:nvPr/>
        </p:nvCxnSpPr>
        <p:spPr bwMode="auto">
          <a:xfrm>
            <a:off x="2755542" y="3494375"/>
            <a:ext cx="0" cy="61723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93FD0267-A228-C5E0-864B-268E8ED201D4}"/>
              </a:ext>
            </a:extLst>
          </p:cNvPr>
          <p:cNvCxnSpPr>
            <a:cxnSpLocks/>
          </p:cNvCxnSpPr>
          <p:nvPr/>
        </p:nvCxnSpPr>
        <p:spPr bwMode="auto">
          <a:xfrm>
            <a:off x="1895343" y="4367662"/>
            <a:ext cx="648072" cy="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triangle"/>
            <a:tailEnd type="triangle"/>
          </a:ln>
          <a:effectLst/>
        </p:spPr>
      </p:cxnSp>
      <p:sp>
        <p:nvSpPr>
          <p:cNvPr id="26" name="TextBox 25">
            <a:extLst>
              <a:ext uri="{FF2B5EF4-FFF2-40B4-BE49-F238E27FC236}">
                <a16:creationId xmlns:a16="http://schemas.microsoft.com/office/drawing/2014/main" id="{326DB485-2B3B-ECB5-28DF-1D912060B8E5}"/>
              </a:ext>
            </a:extLst>
          </p:cNvPr>
          <p:cNvSpPr txBox="1"/>
          <p:nvPr/>
        </p:nvSpPr>
        <p:spPr>
          <a:xfrm>
            <a:off x="2711624" y="3559978"/>
            <a:ext cx="6503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latin typeface="URWPalladioL-Roma"/>
              </a:rPr>
              <a:t>2 pixels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7E3ED2-C65B-9709-C7CD-BF45C6FD4EDD}"/>
              </a:ext>
            </a:extLst>
          </p:cNvPr>
          <p:cNvSpPr txBox="1"/>
          <p:nvPr/>
        </p:nvSpPr>
        <p:spPr>
          <a:xfrm>
            <a:off x="1922230" y="4104049"/>
            <a:ext cx="65030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1200">
                <a:latin typeface="URWPalladioL-Roma"/>
              </a:rPr>
              <a:t>2 pixels</a:t>
            </a:r>
          </a:p>
        </p:txBody>
      </p:sp>
    </p:spTree>
    <p:extLst>
      <p:ext uri="{BB962C8B-B14F-4D97-AF65-F5344CB8AC3E}">
        <p14:creationId xmlns:p14="http://schemas.microsoft.com/office/powerpoint/2010/main" val="226979539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46CA-7811-AB5A-CC14-746DB927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/>
              <a:t>Details (6)</a:t>
            </a:r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F7BE-F8A7-14E4-D061-B3D908C38963}"/>
              </a:ext>
            </a:extLst>
          </p:cNvPr>
          <p:cNvSpPr txBox="1"/>
          <p:nvPr/>
        </p:nvSpPr>
        <p:spPr>
          <a:xfrm>
            <a:off x="138934" y="1090734"/>
            <a:ext cx="11429673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>
                <a:latin typeface="URWPalladioL-Roma"/>
              </a:rPr>
              <a:t>Basic requirements</a:t>
            </a:r>
            <a:endParaRPr lang="en-US" b="1" dirty="0">
              <a:latin typeface="URWPalladioL-Roma"/>
            </a:endParaRP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  <a:sym typeface="Verdana"/>
              </a:rPr>
              <a:t>Classify the 19 tree species with developed deep learning models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  <a:sym typeface="Verdana"/>
              </a:rPr>
              <a:t>The test dataset (csv file) will be released before the end of project for accuracy assessment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b="1">
                <a:latin typeface="URWPalladioL-Roma"/>
                <a:sym typeface="Verdana"/>
              </a:rPr>
              <a:t>Bonus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  <a:sym typeface="Verdana"/>
              </a:rPr>
              <a:t>Utilize hierarchical labels to address data imbalance and potentially improve classification accuracy (Ozgur et al., 2021)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</a:rPr>
              <a:t>Exploration of different input data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</a:rPr>
              <a:t>Different feature combinations (only spectral bands, spectral + vegetation indices, spectral + DEM, spectral + vegetation indices + DEM, etc)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</a:rPr>
              <a:t>Different patch sizes (1*1, 5*5, 9*9, 13*13 pixels, etc)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</a:rPr>
              <a:t>Different time range (Mar. – Oct. 2022, all months of 2022, etc)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</a:rPr>
              <a:t>Exploration of different deep learning models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</a:rPr>
              <a:t>Traditional: Random Forest, XGBoost, etc</a:t>
            </a:r>
          </a:p>
          <a:p>
            <a:pPr marL="1257300" lvl="2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</a:rPr>
              <a:t>CNN-based, RNN-based, Transformer-based, etc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457259C8-D1FB-DDBF-4D86-FE1A7C4C7D7D}"/>
              </a:ext>
            </a:extLst>
          </p:cNvPr>
          <p:cNvSpPr txBox="1"/>
          <p:nvPr/>
        </p:nvSpPr>
        <p:spPr>
          <a:xfrm>
            <a:off x="4660453" y="5538105"/>
            <a:ext cx="7405652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1400">
                <a:solidFill>
                  <a:schemeClr val="bg1">
                    <a:lumMod val="50000"/>
                  </a:schemeClr>
                </a:solidFill>
                <a:latin typeface="URWPalladioL-Roma"/>
              </a:rPr>
              <a:t>Turkoglu, Mehmet Ozgur, et al. "Crop mapping from image time series: Deep learning with multi-scale label hierarchies." Remote Sensing of Environment 264 (2021): 112603.</a:t>
            </a:r>
          </a:p>
        </p:txBody>
      </p:sp>
    </p:spTree>
    <p:extLst>
      <p:ext uri="{BB962C8B-B14F-4D97-AF65-F5344CB8AC3E}">
        <p14:creationId xmlns:p14="http://schemas.microsoft.com/office/powerpoint/2010/main" val="244613428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F246CA-7811-AB5A-CC14-746DB9275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Project </a:t>
            </a:r>
            <a:r>
              <a:rPr lang="de-DE"/>
              <a:t>Details (7)</a:t>
            </a:r>
            <a:endParaRPr lang="de-DE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167F7BE-F8A7-14E4-D061-B3D908C38963}"/>
              </a:ext>
            </a:extLst>
          </p:cNvPr>
          <p:cNvSpPr txBox="1"/>
          <p:nvPr/>
        </p:nvSpPr>
        <p:spPr>
          <a:xfrm>
            <a:off x="138934" y="1090734"/>
            <a:ext cx="11429673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l">
              <a:buFont typeface="Wingdings" panose="05000000000000000000" pitchFamily="2" charset="2"/>
              <a:buChar char="§"/>
            </a:pPr>
            <a:r>
              <a:rPr lang="en-US" b="1" dirty="0">
                <a:latin typeface="URWPalladioL-Roma"/>
              </a:rPr>
              <a:t>Computing Resources: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 dirty="0">
                <a:latin typeface="URWPalladioL-Roma"/>
                <a:sym typeface="Verdana"/>
              </a:rPr>
              <a:t>Link to the wiki </a:t>
            </a:r>
            <a:r>
              <a:rPr lang="en-US" dirty="0">
                <a:solidFill>
                  <a:srgbClr val="0070C0"/>
                </a:solidFill>
                <a:latin typeface="URWPalladioL-Roma"/>
                <a:sym typeface="Verdan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https://gitlab.lrz.de/groups/rs-seminar/-/wikis/home</a:t>
            </a:r>
            <a:r>
              <a:rPr lang="en-US" dirty="0">
                <a:solidFill>
                  <a:srgbClr val="0070C0"/>
                </a:solidFill>
                <a:latin typeface="URWPalladioL-Roma"/>
                <a:sym typeface="Verdana"/>
              </a:rPr>
              <a:t> </a:t>
            </a:r>
            <a:r>
              <a:rPr lang="en-US" dirty="0">
                <a:latin typeface="URWPalladioL-Roma"/>
                <a:sym typeface="Verdana"/>
              </a:rPr>
              <a:t> </a:t>
            </a:r>
          </a:p>
          <a:p>
            <a:pPr marL="800100" lvl="1" indent="-342900">
              <a:buFont typeface="Wingdings" panose="05000000000000000000" pitchFamily="2" charset="2"/>
              <a:buChar char="§"/>
            </a:pPr>
            <a:r>
              <a:rPr lang="en-US">
                <a:latin typeface="URWPalladioL-Roma"/>
                <a:sym typeface="Verdana"/>
              </a:rPr>
              <a:t>Get credentials </a:t>
            </a:r>
            <a:r>
              <a:rPr lang="en-US" dirty="0">
                <a:latin typeface="URWPalladioL-Roma"/>
                <a:sym typeface="Verdana"/>
              </a:rPr>
              <a:t>by contacting Mr. Ivica </a:t>
            </a:r>
            <a:r>
              <a:rPr lang="en-US" dirty="0" err="1">
                <a:latin typeface="URWPalladioL-Roma"/>
                <a:sym typeface="Verdana"/>
              </a:rPr>
              <a:t>Obadic</a:t>
            </a:r>
            <a:r>
              <a:rPr lang="en-US" dirty="0">
                <a:latin typeface="URWPalladioL-Roma"/>
                <a:sym typeface="Verdana"/>
              </a:rPr>
              <a:t> </a:t>
            </a:r>
            <a:r>
              <a:rPr lang="en-US" dirty="0">
                <a:solidFill>
                  <a:schemeClr val="bg2"/>
                </a:solidFill>
                <a:latin typeface="URWPalladioL-Roma"/>
                <a:sym typeface="Verdana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ivica.obadic@tum.de</a:t>
            </a:r>
            <a:r>
              <a:rPr lang="en-US" dirty="0">
                <a:solidFill>
                  <a:schemeClr val="bg2"/>
                </a:solidFill>
                <a:latin typeface="URWPalladioL-Roma"/>
                <a:sym typeface="Verdana"/>
              </a:rPr>
              <a:t>   </a:t>
            </a:r>
            <a:endParaRPr lang="en-US" sz="2000" i="0" u="none" strike="noStrike" baseline="0" dirty="0">
              <a:solidFill>
                <a:schemeClr val="bg2"/>
              </a:solidFill>
              <a:latin typeface="URWPalladioL-Rom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de-DE" dirty="0"/>
          </a:p>
        </p:txBody>
      </p:sp>
    </p:spTree>
    <p:extLst>
      <p:ext uri="{BB962C8B-B14F-4D97-AF65-F5344CB8AC3E}">
        <p14:creationId xmlns:p14="http://schemas.microsoft.com/office/powerpoint/2010/main" val="37781838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0BF37F-120F-7491-6BA3-1083C90586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 dirty="0"/>
              <a:t>Questions ?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32AC413-7855-8B4A-9244-2BFC10E84CD1}"/>
              </a:ext>
            </a:extLst>
          </p:cNvPr>
          <p:cNvSpPr txBox="1"/>
          <p:nvPr/>
        </p:nvSpPr>
        <p:spPr>
          <a:xfrm>
            <a:off x="527050" y="1268760"/>
            <a:ext cx="11429673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dirty="0">
                <a:latin typeface="URWPalladioL-Roma"/>
              </a:rPr>
              <a:t>Please contact us if you have any questions:</a:t>
            </a: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sz="2000" i="0" u="none" strike="noStrike" baseline="0" dirty="0">
              <a:latin typeface="URWPalladioL-Rom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en-US" dirty="0">
              <a:latin typeface="URWPalladioL-Roma"/>
            </a:endParaRPr>
          </a:p>
          <a:p>
            <a:pPr marL="342900" indent="-342900" algn="l">
              <a:buFont typeface="Wingdings" panose="05000000000000000000" pitchFamily="2" charset="2"/>
              <a:buChar char="§"/>
            </a:pPr>
            <a:endParaRPr lang="de-DE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E133A9C-1C78-B919-214C-41E0640AC2E7}"/>
              </a:ext>
            </a:extLst>
          </p:cNvPr>
          <p:cNvSpPr txBox="1"/>
          <p:nvPr/>
        </p:nvSpPr>
        <p:spPr>
          <a:xfrm>
            <a:off x="540636" y="2144990"/>
            <a:ext cx="763284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de-DE" dirty="0">
              <a:latin typeface="URWPalladioL-Roma"/>
            </a:endParaRPr>
          </a:p>
          <a:p>
            <a:r>
              <a:rPr lang="de-DE" b="1">
                <a:latin typeface="URWPalladioL-Roma"/>
              </a:rPr>
              <a:t>Yang </a:t>
            </a:r>
            <a:r>
              <a:rPr lang="de-DE" b="1" dirty="0">
                <a:latin typeface="URWPalladioL-Roma"/>
              </a:rPr>
              <a:t>Mu </a:t>
            </a:r>
          </a:p>
          <a:p>
            <a:r>
              <a:rPr lang="de-DE" dirty="0">
                <a:latin typeface="URWPalladioL-Roma"/>
              </a:rPr>
              <a:t>PhD </a:t>
            </a:r>
            <a:r>
              <a:rPr lang="de-DE" dirty="0" err="1">
                <a:latin typeface="URWPalladioL-Roma"/>
              </a:rPr>
              <a:t>student</a:t>
            </a:r>
            <a:r>
              <a:rPr lang="de-DE" dirty="0">
                <a:latin typeface="URWPalladioL-Roma"/>
              </a:rPr>
              <a:t> </a:t>
            </a:r>
            <a:r>
              <a:rPr lang="en-US" altLang="zh-CN" dirty="0">
                <a:latin typeface="URWPalladioL-Roma"/>
              </a:rPr>
              <a:t>at the International AI Future Lab</a:t>
            </a:r>
            <a:r>
              <a:rPr lang="en-DE" altLang="zh-CN" dirty="0">
                <a:latin typeface="URWPalladioL-Roma"/>
              </a:rPr>
              <a:t>: </a:t>
            </a:r>
            <a:r>
              <a:rPr lang="en-US" altLang="zh-CN" dirty="0">
                <a:latin typeface="URWPalladioL-Roma"/>
              </a:rPr>
              <a:t>AI4EO, TUM</a:t>
            </a:r>
          </a:p>
          <a:p>
            <a:r>
              <a:rPr lang="de-DE" dirty="0">
                <a:latin typeface="URWPalladioL-Roma"/>
              </a:rPr>
              <a:t>Email: </a:t>
            </a:r>
            <a:r>
              <a:rPr lang="de-DE" dirty="0">
                <a:solidFill>
                  <a:srgbClr val="0070C0"/>
                </a:solidFill>
                <a:latin typeface="URWPalladioL-Roma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yang.mu@tum.de</a:t>
            </a:r>
            <a:r>
              <a:rPr lang="de-DE" dirty="0">
                <a:solidFill>
                  <a:srgbClr val="0070C0"/>
                </a:solidFill>
                <a:latin typeface="URWPalladioL-Roma"/>
              </a:rPr>
              <a:t>   </a:t>
            </a:r>
          </a:p>
        </p:txBody>
      </p:sp>
    </p:spTree>
    <p:extLst>
      <p:ext uri="{BB962C8B-B14F-4D97-AF65-F5344CB8AC3E}">
        <p14:creationId xmlns:p14="http://schemas.microsoft.com/office/powerpoint/2010/main" val="4046503741"/>
      </p:ext>
    </p:extLst>
  </p:cSld>
  <p:clrMapOvr>
    <a:masterClrMapping/>
  </p:clrMapOvr>
</p:sld>
</file>

<file path=ppt/theme/theme1.xml><?xml version="1.0" encoding="utf-8"?>
<a:theme xmlns:a="http://schemas.openxmlformats.org/drawingml/2006/main" name="TUM_LMF_Vorlage">
  <a:themeElements>
    <a:clrScheme name="Leere Präsentation 1">
      <a:dk1>
        <a:srgbClr val="000000"/>
      </a:dk1>
      <a:lt1>
        <a:srgbClr val="FFFFFF"/>
      </a:lt1>
      <a:dk2>
        <a:srgbClr val="005293"/>
      </a:dk2>
      <a:lt2>
        <a:srgbClr val="0065BD"/>
      </a:lt2>
      <a:accent1>
        <a:srgbClr val="A2AD00"/>
      </a:accent1>
      <a:accent2>
        <a:srgbClr val="E37222"/>
      </a:accent2>
      <a:accent3>
        <a:srgbClr val="FFFFFF"/>
      </a:accent3>
      <a:accent4>
        <a:srgbClr val="000000"/>
      </a:accent4>
      <a:accent5>
        <a:srgbClr val="CED3AA"/>
      </a:accent5>
      <a:accent6>
        <a:srgbClr val="CE671E"/>
      </a:accent6>
      <a:hlink>
        <a:srgbClr val="DAD7CB"/>
      </a:hlink>
      <a:folHlink>
        <a:srgbClr val="9C9D9F"/>
      </a:folHlink>
    </a:clrScheme>
    <a:fontScheme name="Leere Präsentation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r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de-DE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Leere Präsentation 1">
        <a:dk1>
          <a:srgbClr val="000000"/>
        </a:dk1>
        <a:lt1>
          <a:srgbClr val="FFFFFF"/>
        </a:lt1>
        <a:dk2>
          <a:srgbClr val="005293"/>
        </a:dk2>
        <a:lt2>
          <a:srgbClr val="0065BD"/>
        </a:lt2>
        <a:accent1>
          <a:srgbClr val="A2AD00"/>
        </a:accent1>
        <a:accent2>
          <a:srgbClr val="E37222"/>
        </a:accent2>
        <a:accent3>
          <a:srgbClr val="FFFFFF"/>
        </a:accent3>
        <a:accent4>
          <a:srgbClr val="000000"/>
        </a:accent4>
        <a:accent5>
          <a:srgbClr val="CED3AA"/>
        </a:accent5>
        <a:accent6>
          <a:srgbClr val="CE671E"/>
        </a:accent6>
        <a:hlink>
          <a:srgbClr val="DAD7CB"/>
        </a:hlink>
        <a:folHlink>
          <a:srgbClr val="9C9D9F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Larissa-Design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Larissa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Larissa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519</TotalTime>
  <Words>884</Words>
  <Application>Microsoft Office PowerPoint</Application>
  <PresentationFormat>Widescreen</PresentationFormat>
  <Paragraphs>129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URWPalladioL-Roma</vt:lpstr>
      <vt:lpstr>Arial</vt:lpstr>
      <vt:lpstr>Verdana</vt:lpstr>
      <vt:lpstr>Wingdings</vt:lpstr>
      <vt:lpstr>TUM_LMF_Vorlage</vt:lpstr>
      <vt:lpstr>Project: Tree Species Classification</vt:lpstr>
      <vt:lpstr>Project Details (1)</vt:lpstr>
      <vt:lpstr>Project Details (2)</vt:lpstr>
      <vt:lpstr>Project Details (3)</vt:lpstr>
      <vt:lpstr>Project Details (4)</vt:lpstr>
      <vt:lpstr>Project Details (5)</vt:lpstr>
      <vt:lpstr>Project Details (5)</vt:lpstr>
      <vt:lpstr>Project Details (5)</vt:lpstr>
      <vt:lpstr>Project Details (5)</vt:lpstr>
      <vt:lpstr>Project Details (6)</vt:lpstr>
      <vt:lpstr>Project Details (7)</vt:lpstr>
      <vt:lpstr>Questions ?</vt:lpstr>
    </vt:vector>
  </TitlesOfParts>
  <Company>tum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SeminarRS</dc:title>
  <dc:creator>mb</dc:creator>
  <cp:lastModifiedBy>Yang Mu</cp:lastModifiedBy>
  <cp:revision>227</cp:revision>
  <dcterms:created xsi:type="dcterms:W3CDTF">2010-03-31T09:38:40Z</dcterms:created>
  <dcterms:modified xsi:type="dcterms:W3CDTF">2026-04-23T22:01:22Z</dcterms:modified>
</cp:coreProperties>
</file>